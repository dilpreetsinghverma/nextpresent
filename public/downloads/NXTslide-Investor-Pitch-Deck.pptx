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investors. Today we are presenting NXTslide. Over 35 million presentations are delivered every single day. Yet presenters are still forced to carry expensive, clunky hardware remotes or struggle with outdated Wi-Fi apps. NXTslide turns the smartphone already in your pocket into a cloud-connected presentation powerhouse.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three specific frustrations: 1) Hardware clickers cost $100 and people forget their dongles. 2) Old clicker apps fail on university/office Wi-Fi. 3) Presenters have no unified way to engage their audience without paying $30/month for extra software.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NXTslide solves every limitation of traditional clickers. Because it uses our cloud relay, a presenter can walk into any auditorium, connect their phone over 5G while the laptop is on campus Wi-Fi, and it connects instantly with under 50ms latency.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zero-install web remote: Even if a guest speaker has an iPhone without our native app, they simply point their camera at the QR code and their web browser becomes the remote control instantly.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presentations are ubiquitous: every student presents weekly, every startup pitches, every corporate team runs reviews. Our market is not just people buying $100 remotes—it is anyone who speaks in front of an audience.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bringing you an unvalidated concept on paper. NXTslide is live today, our servers have been up for days continuously, the payment gateway is live, and our Android app is already submitted to major app stores.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business evolution: The ₹89 clicker is our viral acquisition wedge that gets millions of students and speakers on board. Then, our ₹499/year or $29/year Creator Suite replaces tools like Slido ($25/mo) with live polls and AI coaching, driving massive recurring ARR.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us to the competition: We combine the hardware capabilities of a $130 Logitech Spotlight, the convenience of mobile apps, and the audience engagement of Slido into a single affordable ecosystem.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unit economics are exceptional. Because we stream lightweight WebSocket state rather than heavy video or audio, one tiny server handles thousands of concurrent rooms, giving us software gross margins above 95%.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inherent viral loop: Unlike internal B2B tools used in secret, NXTslide is used publicly in front of groups. Every single presentation is a free billboard and live demo for dozens of potential new users.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initial capital, we will complete the iOS app, deploy the live audience Q&amp;A and AI coaching features, and activate our campus ambassador program to scale to 50,000 active presenters and achieve sustainable profitability.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NXTslide is ready for a live demo right now on this screen using my phone.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61E31"/>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188720" y="1188720"/>
            <a:ext cx="1645920" cy="1645920"/>
          </a:xfrm>
          <a:prstGeom prst="rect">
            <a:avLst/>
          </a:prstGeom>
        </p:spPr>
      </p:pic>
      <p:sp>
        <p:nvSpPr>
          <p:cNvPr id="5" name="TextBox 4"/>
          <p:cNvSpPr txBox="1"/>
          <p:nvPr/>
        </p:nvSpPr>
        <p:spPr>
          <a:xfrm>
            <a:off x="1188720" y="2011680"/>
            <a:ext cx="9601200" cy="2286000"/>
          </a:xfrm>
          <a:prstGeom prst="rect">
            <a:avLst/>
          </a:prstGeom>
          <a:noFill/>
        </p:spPr>
        <p:txBody>
          <a:bodyPr wrap="square">
            <a:spAutoFit/>
          </a:bodyPr>
          <a:lstStyle/>
          <a:p>
            <a:pPr>
              <a:defRPr sz="5000" b="1">
                <a:solidFill>
                  <a:srgbClr val="F8FAFC"/>
                </a:solidFill>
              </a:defRPr>
            </a:pPr>
            <a:r>
              <a:t>NXTslide</a:t>
            </a:r>
          </a:p>
          <a:p>
            <a:pPr>
              <a:spcBef>
                <a:spcPts val="800"/>
              </a:spcBef>
              <a:defRPr sz="2200" b="1">
                <a:solidFill>
                  <a:srgbClr val="38BDF8"/>
                </a:solidFill>
              </a:defRPr>
            </a:pPr>
            <a:r>
              <a:t>The Smartphone-Powered Presentation Ecosystem</a:t>
            </a:r>
          </a:p>
          <a:p>
            <a:pPr>
              <a:spcBef>
                <a:spcPts val="1200"/>
              </a:spcBef>
              <a:defRPr sz="1400">
                <a:solidFill>
                  <a:srgbClr val="94A3B8"/>
                </a:solidFill>
              </a:defRPr>
            </a:pPr>
            <a:r>
              <a:t>Replacing $100 Hardware Clickers &amp; Fragmented Tools with an Intelligent, Cloud-Connected Presenter Suite.</a:t>
            </a:r>
          </a:p>
        </p:txBody>
      </p:sp>
      <p:sp>
        <p:nvSpPr>
          <p:cNvPr id="6" name="TextBox 5"/>
          <p:cNvSpPr txBox="1"/>
          <p:nvPr/>
        </p:nvSpPr>
        <p:spPr>
          <a:xfrm>
            <a:off x="1188720" y="4754880"/>
            <a:ext cx="9601200" cy="914400"/>
          </a:xfrm>
          <a:prstGeom prst="rect">
            <a:avLst/>
          </a:prstGeom>
          <a:noFill/>
        </p:spPr>
        <p:txBody>
          <a:bodyPr wrap="none">
            <a:spAutoFit/>
          </a:bodyPr>
          <a:lstStyle/>
          <a:p>
            <a:pPr>
              <a:defRPr sz="1100" b="1">
                <a:solidFill>
                  <a:srgbClr val="818CF8"/>
                </a:solidFill>
              </a:defRPr>
            </a:pPr>
            <a:r>
              <a:t>CONFIDENTIAL INVESTOR DECK  •  SEED ROUND  •  nxtslide.online</a:t>
            </a:r>
          </a:p>
          <a:p>
            <a:pPr>
              <a:spcBef>
                <a:spcPts val="400"/>
              </a:spcBef>
              <a:defRPr sz="1200">
                <a:solidFill>
                  <a:srgbClr val="F8FAFC"/>
                </a:solidFill>
              </a:defRPr>
            </a:pPr>
            <a:r>
              <a:t>Founder: Dilpreet Singh  |  Contact: dilpreet@nxtslide.online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THE MARKET PAIN</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Presenting Today is Broken, Clunky &amp; Expensive</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Presenters face friction before they even speak their first word.</a:t>
            </a:r>
          </a:p>
        </p:txBody>
      </p:sp>
      <p:sp>
        <p:nvSpPr>
          <p:cNvPr id="6" name="Rounded Rectangle 5"/>
          <p:cNvSpPr/>
          <p:nvPr/>
        </p:nvSpPr>
        <p:spPr>
          <a:xfrm>
            <a:off x="731520" y="1828800"/>
            <a:ext cx="3328416"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2779776" cy="3749040"/>
          </a:xfrm>
          <a:prstGeom prst="rect">
            <a:avLst/>
          </a:prstGeom>
          <a:noFill/>
        </p:spPr>
        <p:txBody>
          <a:bodyPr wrap="square">
            <a:spAutoFit/>
          </a:bodyPr>
          <a:lstStyle/>
          <a:p>
            <a:pPr>
              <a:defRPr sz="2800" b="1">
                <a:solidFill>
                  <a:srgbClr val="FB923C"/>
                </a:solidFill>
              </a:defRPr>
            </a:pPr>
            <a:r>
              <a:t>01</a:t>
            </a:r>
          </a:p>
          <a:p>
            <a:pPr>
              <a:spcBef>
                <a:spcPts val="1000"/>
              </a:spcBef>
              <a:defRPr sz="1700" b="1">
                <a:solidFill>
                  <a:srgbClr val="F8FAFC"/>
                </a:solidFill>
              </a:defRPr>
            </a:pPr>
            <a:r>
              <a:t>$100 Hardware Clicker Trap</a:t>
            </a:r>
          </a:p>
          <a:p>
            <a:pPr>
              <a:spcBef>
                <a:spcPts val="1200"/>
              </a:spcBef>
              <a:defRPr sz="1300">
                <a:solidFill>
                  <a:srgbClr val="94A3B8"/>
                </a:solidFill>
              </a:defRPr>
            </a:pPr>
            <a:r>
              <a:t>Dedicated remotes (e.g. Logitech Spotlight) cost $50 to $130+. They require USB-A dongles useless on modern USB-C laptops, easily get lost, and frequently run out of battery mid-talk.</a:t>
            </a:r>
          </a:p>
        </p:txBody>
      </p:sp>
      <p:sp>
        <p:nvSpPr>
          <p:cNvPr id="8" name="Rounded Rectangle 7"/>
          <p:cNvSpPr/>
          <p:nvPr/>
        </p:nvSpPr>
        <p:spPr>
          <a:xfrm>
            <a:off x="4425696" y="1828800"/>
            <a:ext cx="3328416"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0016" y="2103120"/>
            <a:ext cx="2779776" cy="3749040"/>
          </a:xfrm>
          <a:prstGeom prst="rect">
            <a:avLst/>
          </a:prstGeom>
          <a:noFill/>
        </p:spPr>
        <p:txBody>
          <a:bodyPr wrap="square">
            <a:spAutoFit/>
          </a:bodyPr>
          <a:lstStyle/>
          <a:p>
            <a:pPr>
              <a:defRPr sz="2800" b="1">
                <a:solidFill>
                  <a:srgbClr val="818CF8"/>
                </a:solidFill>
              </a:defRPr>
            </a:pPr>
            <a:r>
              <a:t>02</a:t>
            </a:r>
          </a:p>
          <a:p>
            <a:pPr>
              <a:spcBef>
                <a:spcPts val="1000"/>
              </a:spcBef>
              <a:defRPr sz="1700" b="1">
                <a:solidFill>
                  <a:srgbClr val="F8FAFC"/>
                </a:solidFill>
              </a:defRPr>
            </a:pPr>
            <a:r>
              <a:t>Firewall &amp; Wi-Fi Failures</a:t>
            </a:r>
          </a:p>
          <a:p>
            <a:pPr>
              <a:spcBef>
                <a:spcPts val="1200"/>
              </a:spcBef>
              <a:defRPr sz="1300">
                <a:solidFill>
                  <a:srgbClr val="94A3B8"/>
                </a:solidFill>
              </a:defRPr>
            </a:pPr>
            <a:r>
              <a:t>Existing mobile clicker apps were designed in 2012. They require exact same-subnet Wi-Fi connections that are routinely blocked by university, corporate, and hotel firewalls (client isolation).</a:t>
            </a:r>
          </a:p>
        </p:txBody>
      </p:sp>
      <p:sp>
        <p:nvSpPr>
          <p:cNvPr id="10" name="Rounded Rectangle 9"/>
          <p:cNvSpPr/>
          <p:nvPr/>
        </p:nvSpPr>
        <p:spPr>
          <a:xfrm>
            <a:off x="8119872" y="1828800"/>
            <a:ext cx="3328416"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94192" y="2103120"/>
            <a:ext cx="2779776" cy="3749040"/>
          </a:xfrm>
          <a:prstGeom prst="rect">
            <a:avLst/>
          </a:prstGeom>
          <a:noFill/>
        </p:spPr>
        <p:txBody>
          <a:bodyPr wrap="square">
            <a:spAutoFit/>
          </a:bodyPr>
          <a:lstStyle/>
          <a:p>
            <a:pPr>
              <a:defRPr sz="2800" b="1">
                <a:solidFill>
                  <a:srgbClr val="38BDF8"/>
                </a:solidFill>
              </a:defRPr>
            </a:pPr>
            <a:r>
              <a:t>03</a:t>
            </a:r>
          </a:p>
          <a:p>
            <a:pPr>
              <a:spcBef>
                <a:spcPts val="1000"/>
              </a:spcBef>
              <a:defRPr sz="1700" b="1">
                <a:solidFill>
                  <a:srgbClr val="F8FAFC"/>
                </a:solidFill>
              </a:defRPr>
            </a:pPr>
            <a:r>
              <a:t>Fragmented &amp; Costly Audience Tools</a:t>
            </a:r>
          </a:p>
          <a:p>
            <a:pPr>
              <a:spcBef>
                <a:spcPts val="1200"/>
              </a:spcBef>
              <a:defRPr sz="1300">
                <a:solidFill>
                  <a:srgbClr val="94A3B8"/>
                </a:solidFill>
              </a:defRPr>
            </a:pPr>
            <a:r>
              <a:t>85% of presentations suffer from audience disengagement. Interactive tools like Slido charge $15–$35/month, forcing speakers to juggle multiple screens, tabs, and browser links.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THE INNOVATION</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NXTslide: A Unified Presentation Superpower</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Zero hardware. Zero network configuration. Complete presentation command.</a:t>
            </a:r>
          </a:p>
        </p:txBody>
      </p:sp>
      <p:sp>
        <p:nvSpPr>
          <p:cNvPr id="6" name="Rounded Rectangle 5"/>
          <p:cNvSpPr/>
          <p:nvPr/>
        </p:nvSpPr>
        <p:spPr>
          <a:xfrm>
            <a:off x="731520" y="182880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57400"/>
            <a:ext cx="4663440" cy="1463040"/>
          </a:xfrm>
          <a:prstGeom prst="rect">
            <a:avLst/>
          </a:prstGeom>
          <a:noFill/>
        </p:spPr>
        <p:txBody>
          <a:bodyPr wrap="square">
            <a:spAutoFit/>
          </a:bodyPr>
          <a:lstStyle/>
          <a:p>
            <a:pPr>
              <a:defRPr sz="1600" b="1">
                <a:solidFill>
                  <a:srgbClr val="38BDF8"/>
                </a:solidFill>
              </a:defRPr>
            </a:pPr>
            <a:r>
              <a:t>Instant QR / Room Code Pairing</a:t>
            </a:r>
          </a:p>
          <a:p>
            <a:pPr>
              <a:spcBef>
                <a:spcPts val="800"/>
              </a:spcBef>
              <a:defRPr sz="1250">
                <a:solidFill>
                  <a:srgbClr val="94A3B8"/>
                </a:solidFill>
              </a:defRPr>
            </a:pPr>
            <a:r>
              <a:t>Scan a QR code or enter a 4-letter room code on any phone. Connects in under 2 seconds without configuring IP addresses or Bluetooth pairing.</a:t>
            </a:r>
          </a:p>
        </p:txBody>
      </p:sp>
      <p:sp>
        <p:nvSpPr>
          <p:cNvPr id="8" name="Rounded Rectangle 7"/>
          <p:cNvSpPr/>
          <p:nvPr/>
        </p:nvSpPr>
        <p:spPr>
          <a:xfrm>
            <a:off x="6217920" y="182880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57400"/>
            <a:ext cx="4663440" cy="1463040"/>
          </a:xfrm>
          <a:prstGeom prst="rect">
            <a:avLst/>
          </a:prstGeom>
          <a:noFill/>
        </p:spPr>
        <p:txBody>
          <a:bodyPr wrap="square">
            <a:spAutoFit/>
          </a:bodyPr>
          <a:lstStyle/>
          <a:p>
            <a:pPr>
              <a:defRPr sz="1600" b="1">
                <a:solidFill>
                  <a:srgbClr val="34D399"/>
                </a:solidFill>
              </a:defRPr>
            </a:pPr>
            <a:r>
              <a:t>Universal Cloud Relay (&lt;50ms)</a:t>
            </a:r>
          </a:p>
          <a:p>
            <a:pPr>
              <a:spcBef>
                <a:spcPts val="800"/>
              </a:spcBef>
              <a:defRPr sz="1250">
                <a:solidFill>
                  <a:srgbClr val="94A3B8"/>
                </a:solidFill>
              </a:defRPr>
            </a:pPr>
            <a:r>
              <a:t>Engineered on WebSocket cloud infrastructure. Works effortlessly across cellular data (4G/5G), office Wi-Fi, and mobile hotspots, bypassing local firewalls.</a:t>
            </a:r>
          </a:p>
        </p:txBody>
      </p:sp>
      <p:sp>
        <p:nvSpPr>
          <p:cNvPr id="10" name="Rounded Rectangle 9"/>
          <p:cNvSpPr/>
          <p:nvPr/>
        </p:nvSpPr>
        <p:spPr>
          <a:xfrm>
            <a:off x="731520" y="402336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51960"/>
            <a:ext cx="4663440" cy="1463040"/>
          </a:xfrm>
          <a:prstGeom prst="rect">
            <a:avLst/>
          </a:prstGeom>
          <a:noFill/>
        </p:spPr>
        <p:txBody>
          <a:bodyPr wrap="square">
            <a:spAutoFit/>
          </a:bodyPr>
          <a:lstStyle/>
          <a:p>
            <a:pPr>
              <a:defRPr sz="1600" b="1">
                <a:solidFill>
                  <a:srgbClr val="818CF8"/>
                </a:solidFill>
              </a:defRPr>
            </a:pPr>
            <a:r>
              <a:t>Digital Gyro Laser &amp; Spotlight</a:t>
            </a:r>
          </a:p>
          <a:p>
            <a:pPr>
              <a:spcBef>
                <a:spcPts val="800"/>
              </a:spcBef>
              <a:defRPr sz="1250">
                <a:solidFill>
                  <a:srgbClr val="94A3B8"/>
                </a:solidFill>
              </a:defRPr>
            </a:pPr>
            <a:r>
              <a:t>Transforms the smartphone's internal motion sensors into a real-time virtual laser pointer and spotlight beam on any projector screen.</a:t>
            </a:r>
          </a:p>
        </p:txBody>
      </p:sp>
      <p:sp>
        <p:nvSpPr>
          <p:cNvPr id="12" name="Rounded Rectangle 11"/>
          <p:cNvSpPr/>
          <p:nvPr/>
        </p:nvSpPr>
        <p:spPr>
          <a:xfrm>
            <a:off x="6217920" y="402336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251960"/>
            <a:ext cx="4663440" cy="1463040"/>
          </a:xfrm>
          <a:prstGeom prst="rect">
            <a:avLst/>
          </a:prstGeom>
          <a:noFill/>
        </p:spPr>
        <p:txBody>
          <a:bodyPr wrap="square">
            <a:spAutoFit/>
          </a:bodyPr>
          <a:lstStyle/>
          <a:p>
            <a:pPr>
              <a:defRPr sz="1600" b="1">
                <a:solidFill>
                  <a:srgbClr val="FB923C"/>
                </a:solidFill>
              </a:defRPr>
            </a:pPr>
            <a:r>
              <a:t>Pocket Teleprompter &amp; Notes</a:t>
            </a:r>
          </a:p>
          <a:p>
            <a:pPr>
              <a:spcBef>
                <a:spcPts val="800"/>
              </a:spcBef>
              <a:defRPr sz="1250">
                <a:solidFill>
                  <a:srgbClr val="94A3B8"/>
                </a:solidFill>
              </a:defRPr>
            </a:pPr>
            <a:r>
              <a:t>Discreetly displays speaker notes, slide elapsed timer, and haptic vibration pacing cues right on the phone in your hand.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PRODUCT &amp; WORKFLOW</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Seamless 3-Step Experience Across All Devices</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Frictionless setup designed for high-stakes presentations.</a:t>
            </a:r>
          </a:p>
        </p:txBody>
      </p:sp>
      <p:sp>
        <p:nvSpPr>
          <p:cNvPr id="6" name="Rounded Rectangle 5"/>
          <p:cNvSpPr/>
          <p:nvPr/>
        </p:nvSpPr>
        <p:spPr>
          <a:xfrm>
            <a:off x="731520" y="1828800"/>
            <a:ext cx="3328416"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2779776" cy="3749039"/>
          </a:xfrm>
          <a:prstGeom prst="rect">
            <a:avLst/>
          </a:prstGeom>
          <a:noFill/>
        </p:spPr>
        <p:txBody>
          <a:bodyPr wrap="square">
            <a:spAutoFit/>
          </a:bodyPr>
          <a:lstStyle/>
          <a:p>
            <a:pPr>
              <a:defRPr sz="1100" b="1">
                <a:solidFill>
                  <a:srgbClr val="38BDF8"/>
                </a:solidFill>
              </a:defRPr>
            </a:pPr>
            <a:r>
              <a:t>PHASE 01</a:t>
            </a:r>
          </a:p>
          <a:p>
            <a:pPr>
              <a:spcBef>
                <a:spcPts val="600"/>
              </a:spcBef>
              <a:defRPr sz="1800" b="1">
                <a:solidFill>
                  <a:srgbClr val="F8FAFC"/>
                </a:solidFill>
              </a:defRPr>
            </a:pPr>
            <a:r>
              <a:t>Step 1: Launch</a:t>
            </a:r>
          </a:p>
          <a:p>
            <a:pPr>
              <a:spcBef>
                <a:spcPts val="1000"/>
              </a:spcBef>
              <a:defRPr sz="1300">
                <a:solidFill>
                  <a:srgbClr val="94A3B8"/>
                </a:solidFill>
              </a:defRPr>
            </a:pPr>
            <a:r>
              <a:t>Launch NXTslide on Windows or open the Web Viewer. A unique 4-character room code and dynamic QR are immediately generated.</a:t>
            </a:r>
          </a:p>
          <a:p>
            <a:pPr>
              <a:spcBef>
                <a:spcPts val="1600"/>
              </a:spcBef>
              <a:defRPr sz="1100" b="1">
                <a:solidFill>
                  <a:srgbClr val="34D399"/>
                </a:solidFill>
              </a:defRPr>
            </a:pPr>
            <a:r>
              <a:t>★ 3 Seconds Setup</a:t>
            </a:r>
          </a:p>
        </p:txBody>
      </p:sp>
      <p:sp>
        <p:nvSpPr>
          <p:cNvPr id="8" name="Rounded Rectangle 7"/>
          <p:cNvSpPr/>
          <p:nvPr/>
        </p:nvSpPr>
        <p:spPr>
          <a:xfrm>
            <a:off x="4425696" y="1828800"/>
            <a:ext cx="3328416"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0016" y="2103120"/>
            <a:ext cx="2779776" cy="3749039"/>
          </a:xfrm>
          <a:prstGeom prst="rect">
            <a:avLst/>
          </a:prstGeom>
          <a:noFill/>
        </p:spPr>
        <p:txBody>
          <a:bodyPr wrap="square">
            <a:spAutoFit/>
          </a:bodyPr>
          <a:lstStyle/>
          <a:p>
            <a:pPr>
              <a:defRPr sz="1100" b="1">
                <a:solidFill>
                  <a:srgbClr val="38BDF8"/>
                </a:solidFill>
              </a:defRPr>
            </a:pPr>
            <a:r>
              <a:t>PHASE 02</a:t>
            </a:r>
          </a:p>
          <a:p>
            <a:pPr>
              <a:spcBef>
                <a:spcPts val="600"/>
              </a:spcBef>
              <a:defRPr sz="1800" b="1">
                <a:solidFill>
                  <a:srgbClr val="F8FAFC"/>
                </a:solidFill>
              </a:defRPr>
            </a:pPr>
            <a:r>
              <a:t>Step 2: Connect</a:t>
            </a:r>
          </a:p>
          <a:p>
            <a:pPr>
              <a:spcBef>
                <a:spcPts val="1000"/>
              </a:spcBef>
              <a:defRPr sz="1300">
                <a:solidFill>
                  <a:srgbClr val="94A3B8"/>
                </a:solidFill>
              </a:defRPr>
            </a:pPr>
            <a:r>
              <a:t>Scan QR with any phone camera or launch the native Android Companion app. Automatically paired with sub-50ms cloud relay.</a:t>
            </a:r>
          </a:p>
          <a:p>
            <a:pPr>
              <a:spcBef>
                <a:spcPts val="1600"/>
              </a:spcBef>
              <a:defRPr sz="1100" b="1">
                <a:solidFill>
                  <a:srgbClr val="34D399"/>
                </a:solidFill>
              </a:defRPr>
            </a:pPr>
            <a:r>
              <a:t>★ Zero App Install Required</a:t>
            </a:r>
          </a:p>
        </p:txBody>
      </p:sp>
      <p:sp>
        <p:nvSpPr>
          <p:cNvPr id="10" name="Rounded Rectangle 9"/>
          <p:cNvSpPr/>
          <p:nvPr/>
        </p:nvSpPr>
        <p:spPr>
          <a:xfrm>
            <a:off x="8119872" y="1828800"/>
            <a:ext cx="3328416"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94192" y="2103120"/>
            <a:ext cx="2779776" cy="3749039"/>
          </a:xfrm>
          <a:prstGeom prst="rect">
            <a:avLst/>
          </a:prstGeom>
          <a:noFill/>
        </p:spPr>
        <p:txBody>
          <a:bodyPr wrap="square">
            <a:spAutoFit/>
          </a:bodyPr>
          <a:lstStyle/>
          <a:p>
            <a:pPr>
              <a:defRPr sz="1100" b="1">
                <a:solidFill>
                  <a:srgbClr val="38BDF8"/>
                </a:solidFill>
              </a:defRPr>
            </a:pPr>
            <a:r>
              <a:t>PHASE 03</a:t>
            </a:r>
          </a:p>
          <a:p>
            <a:pPr>
              <a:spcBef>
                <a:spcPts val="600"/>
              </a:spcBef>
              <a:defRPr sz="1800" b="1">
                <a:solidFill>
                  <a:srgbClr val="F8FAFC"/>
                </a:solidFill>
              </a:defRPr>
            </a:pPr>
            <a:r>
              <a:t>Step 3: Command</a:t>
            </a:r>
          </a:p>
          <a:p>
            <a:pPr>
              <a:spcBef>
                <a:spcPts val="1000"/>
              </a:spcBef>
              <a:defRPr sz="1300">
                <a:solidFill>
                  <a:srgbClr val="94A3B8"/>
                </a:solidFill>
              </a:defRPr>
            </a:pPr>
            <a:r>
              <a:t>Navigate slides, activate gyroscopic laser pointer, monitor presentation countdown timer, and read confidential speaker notes.</a:t>
            </a:r>
          </a:p>
          <a:p>
            <a:pPr>
              <a:spcBef>
                <a:spcPts val="1600"/>
              </a:spcBef>
              <a:defRPr sz="1100" b="1">
                <a:solidFill>
                  <a:srgbClr val="34D399"/>
                </a:solidFill>
              </a:defRPr>
            </a:pPr>
            <a:r>
              <a:t>★ Confidence on Stage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MARKET OPPORTUNITY</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Targeting a Multi-Billion Dollar Presentation Industry</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Presentations are the lifeblood of business, education, and sales.</a:t>
            </a:r>
          </a:p>
        </p:txBody>
      </p:sp>
      <p:sp>
        <p:nvSpPr>
          <p:cNvPr id="6" name="Rounded Rectangle 5"/>
          <p:cNvSpPr/>
          <p:nvPr/>
        </p:nvSpPr>
        <p:spPr>
          <a:xfrm>
            <a:off x="7315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2148840" cy="3749039"/>
          </a:xfrm>
          <a:prstGeom prst="rect">
            <a:avLst/>
          </a:prstGeom>
          <a:noFill/>
        </p:spPr>
        <p:txBody>
          <a:bodyPr wrap="square">
            <a:spAutoFit/>
          </a:bodyPr>
          <a:lstStyle/>
          <a:p>
            <a:pPr>
              <a:defRPr sz="2600" b="1">
                <a:solidFill>
                  <a:srgbClr val="38BDF8"/>
                </a:solidFill>
              </a:defRPr>
            </a:pPr>
            <a:r>
              <a:t>35 Million+</a:t>
            </a:r>
          </a:p>
          <a:p>
            <a:pPr>
              <a:spcBef>
                <a:spcPts val="800"/>
              </a:spcBef>
              <a:defRPr sz="1500" b="1">
                <a:solidFill>
                  <a:srgbClr val="F8FAFC"/>
                </a:solidFill>
              </a:defRPr>
            </a:pPr>
            <a:r>
              <a:t>Daily Presentations</a:t>
            </a:r>
          </a:p>
          <a:p>
            <a:pPr>
              <a:spcBef>
                <a:spcPts val="1200"/>
              </a:spcBef>
              <a:defRPr sz="1200">
                <a:solidFill>
                  <a:srgbClr val="94A3B8"/>
                </a:solidFill>
              </a:defRPr>
            </a:pPr>
            <a:r>
              <a:t>PowerPoint, Google Slides, and Keynote decks delivered worldwide every single day.</a:t>
            </a:r>
          </a:p>
        </p:txBody>
      </p:sp>
      <p:sp>
        <p:nvSpPr>
          <p:cNvPr id="8" name="Rounded Rectangle 7"/>
          <p:cNvSpPr/>
          <p:nvPr/>
        </p:nvSpPr>
        <p:spPr>
          <a:xfrm>
            <a:off x="34747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103120"/>
            <a:ext cx="2148840" cy="3749039"/>
          </a:xfrm>
          <a:prstGeom prst="rect">
            <a:avLst/>
          </a:prstGeom>
          <a:noFill/>
        </p:spPr>
        <p:txBody>
          <a:bodyPr wrap="square">
            <a:spAutoFit/>
          </a:bodyPr>
          <a:lstStyle/>
          <a:p>
            <a:pPr>
              <a:defRPr sz="2600" b="1">
                <a:solidFill>
                  <a:srgbClr val="818CF8"/>
                </a:solidFill>
              </a:defRPr>
            </a:pPr>
            <a:r>
              <a:t>$9.2 Billion</a:t>
            </a:r>
          </a:p>
          <a:p>
            <a:pPr>
              <a:spcBef>
                <a:spcPts val="800"/>
              </a:spcBef>
              <a:defRPr sz="1500" b="1">
                <a:solidFill>
                  <a:srgbClr val="F8FAFC"/>
                </a:solidFill>
              </a:defRPr>
            </a:pPr>
            <a:r>
              <a:t>Global TAM</a:t>
            </a:r>
          </a:p>
          <a:p>
            <a:pPr>
              <a:spcBef>
                <a:spcPts val="1200"/>
              </a:spcBef>
              <a:defRPr sz="1200">
                <a:solidFill>
                  <a:srgbClr val="94A3B8"/>
                </a:solidFill>
              </a:defRPr>
            </a:pPr>
            <a:r>
              <a:t>Total Addressable Market for presentation software, peripherals, and audience engagement tools.</a:t>
            </a:r>
          </a:p>
        </p:txBody>
      </p:sp>
      <p:sp>
        <p:nvSpPr>
          <p:cNvPr id="10" name="Rounded Rectangle 9"/>
          <p:cNvSpPr/>
          <p:nvPr/>
        </p:nvSpPr>
        <p:spPr>
          <a:xfrm>
            <a:off x="62179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03120"/>
            <a:ext cx="2148840" cy="3749039"/>
          </a:xfrm>
          <a:prstGeom prst="rect">
            <a:avLst/>
          </a:prstGeom>
          <a:noFill/>
        </p:spPr>
        <p:txBody>
          <a:bodyPr wrap="square">
            <a:spAutoFit/>
          </a:bodyPr>
          <a:lstStyle/>
          <a:p>
            <a:pPr>
              <a:defRPr sz="2600" b="1">
                <a:solidFill>
                  <a:srgbClr val="34D399"/>
                </a:solidFill>
              </a:defRPr>
            </a:pPr>
            <a:r>
              <a:t>$1.4 Billion</a:t>
            </a:r>
          </a:p>
          <a:p>
            <a:pPr>
              <a:spcBef>
                <a:spcPts val="800"/>
              </a:spcBef>
              <a:defRPr sz="1500" b="1">
                <a:solidFill>
                  <a:srgbClr val="F8FAFC"/>
                </a:solidFill>
              </a:defRPr>
            </a:pPr>
            <a:r>
              <a:t>Serviceable SAM</a:t>
            </a:r>
          </a:p>
          <a:p>
            <a:pPr>
              <a:spcBef>
                <a:spcPts val="1200"/>
              </a:spcBef>
              <a:defRPr sz="1200">
                <a:solidFill>
                  <a:srgbClr val="94A3B8"/>
                </a:solidFill>
              </a:defRPr>
            </a:pPr>
            <a:r>
              <a:t>College faculty, university students, corporate trainers, and enterprise sales teams.</a:t>
            </a:r>
          </a:p>
        </p:txBody>
      </p:sp>
      <p:sp>
        <p:nvSpPr>
          <p:cNvPr id="12" name="Rounded Rectangle 11"/>
          <p:cNvSpPr/>
          <p:nvPr/>
        </p:nvSpPr>
        <p:spPr>
          <a:xfrm>
            <a:off x="89611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2103120"/>
            <a:ext cx="2148840" cy="3749039"/>
          </a:xfrm>
          <a:prstGeom prst="rect">
            <a:avLst/>
          </a:prstGeom>
          <a:noFill/>
        </p:spPr>
        <p:txBody>
          <a:bodyPr wrap="square">
            <a:spAutoFit/>
          </a:bodyPr>
          <a:lstStyle/>
          <a:p>
            <a:pPr>
              <a:defRPr sz="2600" b="1">
                <a:solidFill>
                  <a:srgbClr val="FB923C"/>
                </a:solidFill>
              </a:defRPr>
            </a:pPr>
            <a:r>
              <a:t>$28 Million</a:t>
            </a:r>
          </a:p>
          <a:p>
            <a:pPr>
              <a:spcBef>
                <a:spcPts val="800"/>
              </a:spcBef>
              <a:defRPr sz="1500" b="1">
                <a:solidFill>
                  <a:srgbClr val="F8FAFC"/>
                </a:solidFill>
              </a:defRPr>
            </a:pPr>
            <a:r>
              <a:t>Initial Target SOM</a:t>
            </a:r>
          </a:p>
          <a:p>
            <a:pPr>
              <a:spcBef>
                <a:spcPts val="1200"/>
              </a:spcBef>
              <a:defRPr sz="1200">
                <a:solidFill>
                  <a:srgbClr val="94A3B8"/>
                </a:solidFill>
              </a:defRPr>
            </a:pPr>
            <a:r>
              <a:t>Tech-savvy presenters in India and high-growth emerging digital markets.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TRACTION &amp; MILESTONES</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Proven Architecture, Live Product, Real Funnel</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From prototype to live global cloud infrastructure.</a:t>
            </a:r>
          </a:p>
        </p:txBody>
      </p:sp>
      <p:sp>
        <p:nvSpPr>
          <p:cNvPr id="6" name="Rounded Rectangle 5"/>
          <p:cNvSpPr/>
          <p:nvPr/>
        </p:nvSpPr>
        <p:spPr>
          <a:xfrm>
            <a:off x="731520" y="182880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57400"/>
            <a:ext cx="4663440" cy="1463040"/>
          </a:xfrm>
          <a:prstGeom prst="rect">
            <a:avLst/>
          </a:prstGeom>
          <a:noFill/>
        </p:spPr>
        <p:txBody>
          <a:bodyPr wrap="square">
            <a:spAutoFit/>
          </a:bodyPr>
          <a:lstStyle/>
          <a:p>
            <a:pPr>
              <a:defRPr sz="1600" b="1">
                <a:solidFill>
                  <a:srgbClr val="34D399"/>
                </a:solidFill>
              </a:defRPr>
            </a:pPr>
            <a:r>
              <a:t>✔ Live Production Platform</a:t>
            </a:r>
          </a:p>
          <a:p>
            <a:pPr>
              <a:spcBef>
                <a:spcPts val="800"/>
              </a:spcBef>
              <a:defRPr sz="1250">
                <a:solidFill>
                  <a:srgbClr val="94A3B8"/>
                </a:solidFill>
              </a:defRPr>
            </a:pPr>
            <a:r>
              <a:t>nxtslide.online is live with 99.9% uptime on Render cloud relay, serving real-time pairing with zero manual network setup.</a:t>
            </a:r>
          </a:p>
        </p:txBody>
      </p:sp>
      <p:sp>
        <p:nvSpPr>
          <p:cNvPr id="8" name="Rounded Rectangle 7"/>
          <p:cNvSpPr/>
          <p:nvPr/>
        </p:nvSpPr>
        <p:spPr>
          <a:xfrm>
            <a:off x="6217920" y="182880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57400"/>
            <a:ext cx="4663440" cy="1463040"/>
          </a:xfrm>
          <a:prstGeom prst="rect">
            <a:avLst/>
          </a:prstGeom>
          <a:noFill/>
        </p:spPr>
        <p:txBody>
          <a:bodyPr wrap="square">
            <a:spAutoFit/>
          </a:bodyPr>
          <a:lstStyle/>
          <a:p>
            <a:pPr>
              <a:defRPr sz="1600" b="1">
                <a:solidFill>
                  <a:srgbClr val="38BDF8"/>
                </a:solidFill>
              </a:defRPr>
            </a:pPr>
            <a:r>
              <a:t>✔ Multi-Platform Availability</a:t>
            </a:r>
          </a:p>
          <a:p>
            <a:pPr>
              <a:spcBef>
                <a:spcPts val="800"/>
              </a:spcBef>
              <a:defRPr sz="1250">
                <a:solidFill>
                  <a:srgbClr val="94A3B8"/>
                </a:solidFill>
              </a:defRPr>
            </a:pPr>
            <a:r>
              <a:t>Native Android companion app (v2.3.2) + Windows desktop installer + Zero-install Mobile Web Remote.</a:t>
            </a:r>
          </a:p>
        </p:txBody>
      </p:sp>
      <p:sp>
        <p:nvSpPr>
          <p:cNvPr id="10" name="Rounded Rectangle 9"/>
          <p:cNvSpPr/>
          <p:nvPr/>
        </p:nvSpPr>
        <p:spPr>
          <a:xfrm>
            <a:off x="731520" y="402336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51960"/>
            <a:ext cx="4663440" cy="1463040"/>
          </a:xfrm>
          <a:prstGeom prst="rect">
            <a:avLst/>
          </a:prstGeom>
          <a:noFill/>
        </p:spPr>
        <p:txBody>
          <a:bodyPr wrap="square">
            <a:spAutoFit/>
          </a:bodyPr>
          <a:lstStyle/>
          <a:p>
            <a:pPr>
              <a:defRPr sz="1600" b="1">
                <a:solidFill>
                  <a:srgbClr val="818CF8"/>
                </a:solidFill>
              </a:defRPr>
            </a:pPr>
            <a:r>
              <a:t>✔ Integrated Revenue Engine</a:t>
            </a:r>
          </a:p>
          <a:p>
            <a:pPr>
              <a:spcBef>
                <a:spcPts val="800"/>
              </a:spcBef>
              <a:defRPr sz="1250">
                <a:solidFill>
                  <a:srgbClr val="94A3B8"/>
                </a:solidFill>
              </a:defRPr>
            </a:pPr>
            <a:r>
              <a:t>Payment gateway (Razorpay) active with freemium-to-paid conversion funnel offering ₹89 Lifetime Pro.</a:t>
            </a:r>
          </a:p>
        </p:txBody>
      </p:sp>
      <p:sp>
        <p:nvSpPr>
          <p:cNvPr id="12" name="Rounded Rectangle 11"/>
          <p:cNvSpPr/>
          <p:nvPr/>
        </p:nvSpPr>
        <p:spPr>
          <a:xfrm>
            <a:off x="6217920" y="402336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251960"/>
            <a:ext cx="4663440" cy="1463040"/>
          </a:xfrm>
          <a:prstGeom prst="rect">
            <a:avLst/>
          </a:prstGeom>
          <a:noFill/>
        </p:spPr>
        <p:txBody>
          <a:bodyPr wrap="square">
            <a:spAutoFit/>
          </a:bodyPr>
          <a:lstStyle/>
          <a:p>
            <a:pPr>
              <a:defRPr sz="1600" b="1">
                <a:solidFill>
                  <a:srgbClr val="FB923C"/>
                </a:solidFill>
              </a:defRPr>
            </a:pPr>
            <a:r>
              <a:t>✔ Global Directory Pipeline</a:t>
            </a:r>
          </a:p>
          <a:p>
            <a:pPr>
              <a:spcBef>
                <a:spcPts val="800"/>
              </a:spcBef>
              <a:defRPr sz="1250">
                <a:solidFill>
                  <a:srgbClr val="94A3B8"/>
                </a:solidFill>
              </a:defRPr>
            </a:pPr>
            <a:r>
              <a:t>In review and published on international platforms including Uptodown, AlternativeTo, and Microsoft winget.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MONETIZATION &amp; ROADMAP</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From Utility Tool to High-Margin Recurring SaaS</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Unlocking recurring annual revenue through high-value creator workflows.</a:t>
            </a:r>
          </a:p>
        </p:txBody>
      </p:sp>
      <p:sp>
        <p:nvSpPr>
          <p:cNvPr id="6" name="Rounded Rectangle 5"/>
          <p:cNvSpPr/>
          <p:nvPr/>
        </p:nvSpPr>
        <p:spPr>
          <a:xfrm>
            <a:off x="731520" y="1828800"/>
            <a:ext cx="512064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572000" cy="3749039"/>
          </a:xfrm>
          <a:prstGeom prst="rect">
            <a:avLst/>
          </a:prstGeom>
          <a:noFill/>
        </p:spPr>
        <p:txBody>
          <a:bodyPr wrap="square">
            <a:spAutoFit/>
          </a:bodyPr>
          <a:lstStyle/>
          <a:p>
            <a:pPr>
              <a:defRPr sz="1200" b="1">
                <a:solidFill>
                  <a:srgbClr val="38BDF8"/>
                </a:solidFill>
              </a:defRPr>
            </a:pPr>
            <a:r>
              <a:t>TIER 1: CONSUMER MAGNET (LIVE)</a:t>
            </a:r>
          </a:p>
          <a:p>
            <a:pPr>
              <a:spcBef>
                <a:spcPts val="600"/>
              </a:spcBef>
              <a:defRPr sz="2000" b="1">
                <a:solidFill>
                  <a:srgbClr val="F8FAFC"/>
                </a:solidFill>
              </a:defRPr>
            </a:pPr>
            <a:r>
              <a:t>Freemium &amp; ₹89 / $1.99 Lifetime</a:t>
            </a:r>
          </a:p>
          <a:p>
            <a:pPr>
              <a:spcBef>
                <a:spcPts val="800"/>
              </a:spcBef>
              <a:defRPr sz="1250">
                <a:solidFill>
                  <a:srgbClr val="94A3B8"/>
                </a:solidFill>
              </a:defRPr>
            </a:pPr>
            <a:r>
              <a:t>• Free forever core slide clicker (zero friction acquisition)</a:t>
            </a:r>
          </a:p>
          <a:p>
            <a:pPr>
              <a:spcBef>
                <a:spcPts val="800"/>
              </a:spcBef>
              <a:defRPr sz="1250">
                <a:solidFill>
                  <a:srgbClr val="94A3B8"/>
                </a:solidFill>
              </a:defRPr>
            </a:pPr>
            <a:r>
              <a:t>• ₹89 Pro upgrade: Gyro laser, custom vibrations, dark themes</a:t>
            </a:r>
          </a:p>
          <a:p>
            <a:pPr>
              <a:spcBef>
                <a:spcPts val="800"/>
              </a:spcBef>
              <a:defRPr sz="1250">
                <a:solidFill>
                  <a:srgbClr val="94A3B8"/>
                </a:solidFill>
              </a:defRPr>
            </a:pPr>
            <a:r>
              <a:t>• High-volume organic adoption across student &amp; college hubs</a:t>
            </a:r>
          </a:p>
          <a:p>
            <a:pPr>
              <a:spcBef>
                <a:spcPts val="800"/>
              </a:spcBef>
              <a:defRPr sz="1250">
                <a:solidFill>
                  <a:srgbClr val="94A3B8"/>
                </a:solidFill>
              </a:defRPr>
            </a:pPr>
            <a:r>
              <a:t>• Built-in Razorpay checkout with instant automatic license delivery</a:t>
            </a:r>
          </a:p>
        </p:txBody>
      </p:sp>
      <p:sp>
        <p:nvSpPr>
          <p:cNvPr id="8" name="Rounded Rectangle 7"/>
          <p:cNvSpPr/>
          <p:nvPr/>
        </p:nvSpPr>
        <p:spPr>
          <a:xfrm>
            <a:off x="6217920" y="1828800"/>
            <a:ext cx="5212080" cy="4297680"/>
          </a:xfrm>
          <a:prstGeom prst="roundRect">
            <a:avLst/>
          </a:prstGeom>
          <a:solidFill>
            <a:srgbClr val="161E31"/>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03120"/>
            <a:ext cx="4663440" cy="3749039"/>
          </a:xfrm>
          <a:prstGeom prst="rect">
            <a:avLst/>
          </a:prstGeom>
          <a:noFill/>
        </p:spPr>
        <p:txBody>
          <a:bodyPr wrap="square">
            <a:spAutoFit/>
          </a:bodyPr>
          <a:lstStyle/>
          <a:p>
            <a:pPr>
              <a:defRPr sz="1200" b="1">
                <a:solidFill>
                  <a:srgbClr val="818CF8"/>
                </a:solidFill>
              </a:defRPr>
            </a:pPr>
            <a:r>
              <a:t>TIER 2: THE SAAS ENGINE (ROADMAP)</a:t>
            </a:r>
          </a:p>
          <a:p>
            <a:pPr>
              <a:spcBef>
                <a:spcPts val="600"/>
              </a:spcBef>
              <a:defRPr sz="2000" b="1">
                <a:solidFill>
                  <a:srgbClr val="F8FAFC"/>
                </a:solidFill>
              </a:defRPr>
            </a:pPr>
            <a:r>
              <a:t>₹499/yr / $29/yr Creator Suite</a:t>
            </a:r>
          </a:p>
          <a:p>
            <a:pPr>
              <a:spcBef>
                <a:spcPts val="800"/>
              </a:spcBef>
              <a:defRPr sz="1250">
                <a:solidFill>
                  <a:srgbClr val="34D399"/>
                </a:solidFill>
              </a:defRPr>
            </a:pPr>
            <a:r>
              <a:t>★ Live Audience Q&amp;A &amp; Polls: Replaces $25/mo Slido subscription</a:t>
            </a:r>
          </a:p>
          <a:p>
            <a:pPr>
              <a:spcBef>
                <a:spcPts val="800"/>
              </a:spcBef>
              <a:defRPr sz="1250">
                <a:solidFill>
                  <a:srgbClr val="34D399"/>
                </a:solidFill>
              </a:defRPr>
            </a:pPr>
            <a:r>
              <a:t>★ AI Pitch &amp; Speech Coach: Live pacing alerts &amp; filler-word tracker</a:t>
            </a:r>
          </a:p>
          <a:p>
            <a:pPr>
              <a:spcBef>
                <a:spcPts val="800"/>
              </a:spcBef>
              <a:defRPr sz="1250">
                <a:solidFill>
                  <a:srgbClr val="34D399"/>
                </a:solidFill>
              </a:defRPr>
            </a:pPr>
            <a:r>
              <a:t>★ Audience Lead Magnet: Instant 'Scan to download slides' with email capture for sales professionals</a:t>
            </a:r>
          </a:p>
          <a:p>
            <a:pPr>
              <a:spcBef>
                <a:spcPts val="800"/>
              </a:spcBef>
              <a:defRPr sz="1250">
                <a:solidFill>
                  <a:srgbClr val="34D399"/>
                </a:solidFill>
              </a:defRPr>
            </a:pPr>
            <a:r>
              <a:t>★ Co-Presenter 'Pass the Baton': Effortless group presentations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COMPETITIVE MOAT</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Why NXTslide Wins Over Fragmented Solutions</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Comparing hardware, legacy apps, and audience software.</a:t>
            </a:r>
          </a:p>
        </p:txBody>
      </p:sp>
      <p:graphicFrame>
        <p:nvGraphicFramePr>
          <p:cNvPr id="6" name="Table 5"/>
          <p:cNvGraphicFramePr>
            <a:graphicFrameLocks noGrp="1"/>
          </p:cNvGraphicFramePr>
          <p:nvPr/>
        </p:nvGraphicFramePr>
        <p:xfrm>
          <a:off x="731520" y="1828800"/>
          <a:ext cx="10728655" cy="4297680"/>
        </p:xfrm>
        <a:graphic>
          <a:graphicData uri="http://schemas.openxmlformats.org/drawingml/2006/table">
            <a:tbl>
              <a:tblPr firstRow="1" bandRow="1">
                <a:tableStyleId>{5C22544A-7EE6-4342-B048-85BDC9FD1C3A}</a:tableStyleId>
              </a:tblPr>
              <a:tblGrid>
                <a:gridCol w="2499055"/>
                <a:gridCol w="2194560"/>
                <a:gridCol w="2011680"/>
                <a:gridCol w="2194560"/>
                <a:gridCol w="1828800"/>
              </a:tblGrid>
              <a:tr h="613954">
                <a:tc>
                  <a:txBody>
                    <a:bodyPr/>
                    <a:lstStyle/>
                    <a:p>
                      <a:pPr algn="l">
                        <a:defRPr b="1" sz="1300">
                          <a:solidFill>
                            <a:srgbClr val="F8FAFC"/>
                          </a:solidFill>
                        </a:defRPr>
                      </a:pPr>
                      <a:r>
                        <a:t>Solution / Metric</a:t>
                      </a:r>
                    </a:p>
                  </a:txBody>
                  <a:tcPr>
                    <a:solidFill>
                      <a:srgbClr val="1E2945"/>
                    </a:solidFill>
                  </a:tcPr>
                </a:tc>
                <a:tc>
                  <a:txBody>
                    <a:bodyPr/>
                    <a:lstStyle/>
                    <a:p>
                      <a:pPr algn="ctr">
                        <a:defRPr b="1" sz="1300">
                          <a:solidFill>
                            <a:srgbClr val="38BDF8"/>
                          </a:solidFill>
                        </a:defRPr>
                      </a:pPr>
                      <a:r>
                        <a:t>NXTslide</a:t>
                      </a:r>
                    </a:p>
                  </a:txBody>
                  <a:tcPr>
                    <a:solidFill>
                      <a:srgbClr val="1E2945"/>
                    </a:solidFill>
                  </a:tcPr>
                </a:tc>
                <a:tc>
                  <a:txBody>
                    <a:bodyPr/>
                    <a:lstStyle/>
                    <a:p>
                      <a:pPr algn="ctr">
                        <a:defRPr b="1" sz="1300">
                          <a:solidFill>
                            <a:srgbClr val="F8FAFC"/>
                          </a:solidFill>
                        </a:defRPr>
                      </a:pPr>
                      <a:r>
                        <a:t>Logitech Spotlight</a:t>
                      </a:r>
                    </a:p>
                  </a:txBody>
                  <a:tcPr>
                    <a:solidFill>
                      <a:srgbClr val="1E2945"/>
                    </a:solidFill>
                  </a:tcPr>
                </a:tc>
                <a:tc>
                  <a:txBody>
                    <a:bodyPr/>
                    <a:lstStyle/>
                    <a:p>
                      <a:pPr algn="ctr">
                        <a:defRPr b="1" sz="1300">
                          <a:solidFill>
                            <a:srgbClr val="F8FAFC"/>
                          </a:solidFill>
                        </a:defRPr>
                      </a:pPr>
                      <a:r>
                        <a:t>Slido / Mentimeter</a:t>
                      </a:r>
                    </a:p>
                  </a:txBody>
                  <a:tcPr>
                    <a:solidFill>
                      <a:srgbClr val="1E2945"/>
                    </a:solidFill>
                  </a:tcPr>
                </a:tc>
                <a:tc>
                  <a:txBody>
                    <a:bodyPr/>
                    <a:lstStyle/>
                    <a:p>
                      <a:pPr algn="ctr">
                        <a:defRPr b="1" sz="1300">
                          <a:solidFill>
                            <a:srgbClr val="F8FAFC"/>
                          </a:solidFill>
                        </a:defRPr>
                      </a:pPr>
                      <a:r>
                        <a:t>Old Wi-Fi Apps</a:t>
                      </a:r>
                    </a:p>
                  </a:txBody>
                  <a:tcPr>
                    <a:solidFill>
                      <a:srgbClr val="1E2945"/>
                    </a:solidFill>
                  </a:tcPr>
                </a:tc>
              </a:tr>
              <a:tr h="613954">
                <a:tc>
                  <a:txBody>
                    <a:bodyPr/>
                    <a:lstStyle/>
                    <a:p>
                      <a:pPr algn="l">
                        <a:defRPr sz="1150">
                          <a:solidFill>
                            <a:srgbClr val="94A3B8"/>
                          </a:solidFill>
                        </a:defRPr>
                      </a:pPr>
                      <a:r>
                        <a:t>Price Point</a:t>
                      </a:r>
                    </a:p>
                  </a:txBody>
                  <a:tcPr>
                    <a:solidFill>
                      <a:srgbClr val="161E31"/>
                    </a:solidFill>
                  </a:tcPr>
                </a:tc>
                <a:tc>
                  <a:txBody>
                    <a:bodyPr/>
                    <a:lstStyle/>
                    <a:p>
                      <a:pPr algn="ctr">
                        <a:defRPr sz="1150" b="1">
                          <a:solidFill>
                            <a:srgbClr val="34D399"/>
                          </a:solidFill>
                        </a:defRPr>
                      </a:pPr>
                      <a:r>
                        <a:t>Free / ₹89 / ₹499 yr</a:t>
                      </a:r>
                    </a:p>
                  </a:txBody>
                  <a:tcPr>
                    <a:solidFill>
                      <a:srgbClr val="182644"/>
                    </a:solidFill>
                  </a:tcPr>
                </a:tc>
                <a:tc>
                  <a:txBody>
                    <a:bodyPr/>
                    <a:lstStyle/>
                    <a:p>
                      <a:pPr algn="ctr">
                        <a:defRPr sz="1150">
                          <a:solidFill>
                            <a:srgbClr val="94A3B8"/>
                          </a:solidFill>
                        </a:defRPr>
                      </a:pPr>
                      <a:r>
                        <a:t>$129.99 Hardware</a:t>
                      </a:r>
                    </a:p>
                  </a:txBody>
                  <a:tcPr>
                    <a:solidFill>
                      <a:srgbClr val="161E31"/>
                    </a:solidFill>
                  </a:tcPr>
                </a:tc>
                <a:tc>
                  <a:txBody>
                    <a:bodyPr/>
                    <a:lstStyle/>
                    <a:p>
                      <a:pPr algn="ctr">
                        <a:defRPr sz="1150">
                          <a:solidFill>
                            <a:srgbClr val="94A3B8"/>
                          </a:solidFill>
                        </a:defRPr>
                      </a:pPr>
                      <a:r>
                        <a:t>$15 - $35 / Month</a:t>
                      </a:r>
                    </a:p>
                  </a:txBody>
                  <a:tcPr>
                    <a:solidFill>
                      <a:srgbClr val="161E31"/>
                    </a:solidFill>
                  </a:tcPr>
                </a:tc>
                <a:tc>
                  <a:txBody>
                    <a:bodyPr/>
                    <a:lstStyle/>
                    <a:p>
                      <a:pPr algn="ctr">
                        <a:defRPr sz="1150">
                          <a:solidFill>
                            <a:srgbClr val="94A3B8"/>
                          </a:solidFill>
                        </a:defRPr>
                      </a:pPr>
                      <a:r>
                        <a:t>Free / Ad-heavy</a:t>
                      </a:r>
                    </a:p>
                  </a:txBody>
                  <a:tcPr>
                    <a:solidFill>
                      <a:srgbClr val="161E31"/>
                    </a:solidFill>
                  </a:tcPr>
                </a:tc>
              </a:tr>
              <a:tr h="613954">
                <a:tc>
                  <a:txBody>
                    <a:bodyPr/>
                    <a:lstStyle/>
                    <a:p>
                      <a:pPr algn="l">
                        <a:defRPr sz="1150">
                          <a:solidFill>
                            <a:srgbClr val="94A3B8"/>
                          </a:solidFill>
                        </a:defRPr>
                      </a:pPr>
                      <a:r>
                        <a:t>Hardware Required</a:t>
                      </a:r>
                    </a:p>
                  </a:txBody>
                  <a:tcPr>
                    <a:solidFill>
                      <a:srgbClr val="161E31"/>
                    </a:solidFill>
                  </a:tcPr>
                </a:tc>
                <a:tc>
                  <a:txBody>
                    <a:bodyPr/>
                    <a:lstStyle/>
                    <a:p>
                      <a:pPr algn="ctr">
                        <a:defRPr sz="1150" b="1">
                          <a:solidFill>
                            <a:srgbClr val="34D399"/>
                          </a:solidFill>
                        </a:defRPr>
                      </a:pPr>
                      <a:r>
                        <a:t>None (Your Phone)</a:t>
                      </a:r>
                    </a:p>
                  </a:txBody>
                  <a:tcPr>
                    <a:solidFill>
                      <a:srgbClr val="182644"/>
                    </a:solidFill>
                  </a:tcPr>
                </a:tc>
                <a:tc>
                  <a:txBody>
                    <a:bodyPr/>
                    <a:lstStyle/>
                    <a:p>
                      <a:pPr algn="ctr">
                        <a:defRPr sz="1150">
                          <a:solidFill>
                            <a:srgbClr val="94A3B8"/>
                          </a:solidFill>
                        </a:defRPr>
                      </a:pPr>
                      <a:r>
                        <a:t>Dedicated Remote + Dongle</a:t>
                      </a:r>
                    </a:p>
                  </a:txBody>
                  <a:tcPr>
                    <a:solidFill>
                      <a:srgbClr val="161E31"/>
                    </a:solidFill>
                  </a:tcPr>
                </a:tc>
                <a:tc>
                  <a:txBody>
                    <a:bodyPr/>
                    <a:lstStyle/>
                    <a:p>
                      <a:pPr algn="ctr">
                        <a:defRPr sz="1150">
                          <a:solidFill>
                            <a:srgbClr val="94A3B8"/>
                          </a:solidFill>
                        </a:defRPr>
                      </a:pPr>
                      <a:r>
                        <a:t>None (Audience Web)</a:t>
                      </a:r>
                    </a:p>
                  </a:txBody>
                  <a:tcPr>
                    <a:solidFill>
                      <a:srgbClr val="161E31"/>
                    </a:solidFill>
                  </a:tcPr>
                </a:tc>
                <a:tc>
                  <a:txBody>
                    <a:bodyPr/>
                    <a:lstStyle/>
                    <a:p>
                      <a:pPr algn="ctr">
                        <a:defRPr sz="1150">
                          <a:solidFill>
                            <a:srgbClr val="94A3B8"/>
                          </a:solidFill>
                        </a:defRPr>
                      </a:pPr>
                      <a:r>
                        <a:t>None</a:t>
                      </a:r>
                    </a:p>
                  </a:txBody>
                  <a:tcPr>
                    <a:solidFill>
                      <a:srgbClr val="161E31"/>
                    </a:solidFill>
                  </a:tcPr>
                </a:tc>
              </a:tr>
              <a:tr h="613954">
                <a:tc>
                  <a:txBody>
                    <a:bodyPr/>
                    <a:lstStyle/>
                    <a:p>
                      <a:pPr algn="l">
                        <a:defRPr sz="1150">
                          <a:solidFill>
                            <a:srgbClr val="94A3B8"/>
                          </a:solidFill>
                        </a:defRPr>
                      </a:pPr>
                      <a:r>
                        <a:t>Network Traversal</a:t>
                      </a:r>
                    </a:p>
                  </a:txBody>
                  <a:tcPr>
                    <a:solidFill>
                      <a:srgbClr val="161E31"/>
                    </a:solidFill>
                  </a:tcPr>
                </a:tc>
                <a:tc>
                  <a:txBody>
                    <a:bodyPr/>
                    <a:lstStyle/>
                    <a:p>
                      <a:pPr algn="ctr">
                        <a:defRPr sz="1150" b="1">
                          <a:solidFill>
                            <a:srgbClr val="34D399"/>
                          </a:solidFill>
                        </a:defRPr>
                      </a:pPr>
                      <a:r>
                        <a:t>Universal Cloud Relay</a:t>
                      </a:r>
                    </a:p>
                  </a:txBody>
                  <a:tcPr>
                    <a:solidFill>
                      <a:srgbClr val="182644"/>
                    </a:solidFill>
                  </a:tcPr>
                </a:tc>
                <a:tc>
                  <a:txBody>
                    <a:bodyPr/>
                    <a:lstStyle/>
                    <a:p>
                      <a:pPr algn="ctr">
                        <a:defRPr sz="1150">
                          <a:solidFill>
                            <a:srgbClr val="94A3B8"/>
                          </a:solidFill>
                        </a:defRPr>
                      </a:pPr>
                      <a:r>
                        <a:t>Bluetooth (Range Limits)</a:t>
                      </a:r>
                    </a:p>
                  </a:txBody>
                  <a:tcPr>
                    <a:solidFill>
                      <a:srgbClr val="161E31"/>
                    </a:solidFill>
                  </a:tcPr>
                </a:tc>
                <a:tc>
                  <a:txBody>
                    <a:bodyPr/>
                    <a:lstStyle/>
                    <a:p>
                      <a:pPr algn="ctr">
                        <a:defRPr sz="1150">
                          <a:solidFill>
                            <a:srgbClr val="94A3B8"/>
                          </a:solidFill>
                        </a:defRPr>
                      </a:pPr>
                      <a:r>
                        <a:t>Web only</a:t>
                      </a:r>
                    </a:p>
                  </a:txBody>
                  <a:tcPr>
                    <a:solidFill>
                      <a:srgbClr val="161E31"/>
                    </a:solidFill>
                  </a:tcPr>
                </a:tc>
                <a:tc>
                  <a:txBody>
                    <a:bodyPr/>
                    <a:lstStyle/>
                    <a:p>
                      <a:pPr algn="ctr">
                        <a:defRPr sz="1150">
                          <a:solidFill>
                            <a:srgbClr val="94A3B8"/>
                          </a:solidFill>
                        </a:defRPr>
                      </a:pPr>
                      <a:r>
                        <a:t>Fails on Firewalls</a:t>
                      </a:r>
                    </a:p>
                  </a:txBody>
                  <a:tcPr>
                    <a:solidFill>
                      <a:srgbClr val="161E31"/>
                    </a:solidFill>
                  </a:tcPr>
                </a:tc>
              </a:tr>
              <a:tr h="613954">
                <a:tc>
                  <a:txBody>
                    <a:bodyPr/>
                    <a:lstStyle/>
                    <a:p>
                      <a:pPr algn="l">
                        <a:defRPr sz="1150">
                          <a:solidFill>
                            <a:srgbClr val="94A3B8"/>
                          </a:solidFill>
                        </a:defRPr>
                      </a:pPr>
                      <a:r>
                        <a:t>Laser / Spotlight</a:t>
                      </a:r>
                    </a:p>
                  </a:txBody>
                  <a:tcPr>
                    <a:solidFill>
                      <a:srgbClr val="161E31"/>
                    </a:solidFill>
                  </a:tcPr>
                </a:tc>
                <a:tc>
                  <a:txBody>
                    <a:bodyPr/>
                    <a:lstStyle/>
                    <a:p>
                      <a:pPr algn="ctr">
                        <a:defRPr sz="1150" b="1">
                          <a:solidFill>
                            <a:srgbClr val="34D399"/>
                          </a:solidFill>
                        </a:defRPr>
                      </a:pPr>
                      <a:r>
                        <a:t>Virtual Motion Gyro</a:t>
                      </a:r>
                    </a:p>
                  </a:txBody>
                  <a:tcPr>
                    <a:solidFill>
                      <a:srgbClr val="182644"/>
                    </a:solidFill>
                  </a:tcPr>
                </a:tc>
                <a:tc>
                  <a:txBody>
                    <a:bodyPr/>
                    <a:lstStyle/>
                    <a:p>
                      <a:pPr algn="ctr">
                        <a:defRPr sz="1150">
                          <a:solidFill>
                            <a:srgbClr val="94A3B8"/>
                          </a:solidFill>
                        </a:defRPr>
                      </a:pPr>
                      <a:r>
                        <a:t>Proprietary Software</a:t>
                      </a:r>
                    </a:p>
                  </a:txBody>
                  <a:tcPr>
                    <a:solidFill>
                      <a:srgbClr val="161E31"/>
                    </a:solidFill>
                  </a:tcPr>
                </a:tc>
                <a:tc>
                  <a:txBody>
                    <a:bodyPr/>
                    <a:lstStyle/>
                    <a:p>
                      <a:pPr algn="ctr">
                        <a:defRPr sz="1150">
                          <a:solidFill>
                            <a:srgbClr val="94A3B8"/>
                          </a:solidFill>
                        </a:defRPr>
                      </a:pPr>
                      <a:r>
                        <a:t>None</a:t>
                      </a:r>
                    </a:p>
                  </a:txBody>
                  <a:tcPr>
                    <a:solidFill>
                      <a:srgbClr val="161E31"/>
                    </a:solidFill>
                  </a:tcPr>
                </a:tc>
                <a:tc>
                  <a:txBody>
                    <a:bodyPr/>
                    <a:lstStyle/>
                    <a:p>
                      <a:pPr algn="ctr">
                        <a:defRPr sz="1150">
                          <a:solidFill>
                            <a:srgbClr val="94A3B8"/>
                          </a:solidFill>
                        </a:defRPr>
                      </a:pPr>
                      <a:r>
                        <a:t>None</a:t>
                      </a:r>
                    </a:p>
                  </a:txBody>
                  <a:tcPr>
                    <a:solidFill>
                      <a:srgbClr val="161E31"/>
                    </a:solidFill>
                  </a:tcPr>
                </a:tc>
              </a:tr>
              <a:tr h="613954">
                <a:tc>
                  <a:txBody>
                    <a:bodyPr/>
                    <a:lstStyle/>
                    <a:p>
                      <a:pPr algn="l">
                        <a:defRPr sz="1150">
                          <a:solidFill>
                            <a:srgbClr val="94A3B8"/>
                          </a:solidFill>
                        </a:defRPr>
                      </a:pPr>
                      <a:r>
                        <a:t>Speaker Notes &amp; Timer</a:t>
                      </a:r>
                    </a:p>
                  </a:txBody>
                  <a:tcPr>
                    <a:solidFill>
                      <a:srgbClr val="161E31"/>
                    </a:solidFill>
                  </a:tcPr>
                </a:tc>
                <a:tc>
                  <a:txBody>
                    <a:bodyPr/>
                    <a:lstStyle/>
                    <a:p>
                      <a:pPr algn="ctr">
                        <a:defRPr sz="1150" b="1">
                          <a:solidFill>
                            <a:srgbClr val="34D399"/>
                          </a:solidFill>
                        </a:defRPr>
                      </a:pPr>
                      <a:r>
                        <a:t>Live on Phone Screen</a:t>
                      </a:r>
                    </a:p>
                  </a:txBody>
                  <a:tcPr>
                    <a:solidFill>
                      <a:srgbClr val="182644"/>
                    </a:solidFill>
                  </a:tcPr>
                </a:tc>
                <a:tc>
                  <a:txBody>
                    <a:bodyPr/>
                    <a:lstStyle/>
                    <a:p>
                      <a:pPr algn="ctr">
                        <a:defRPr sz="1150">
                          <a:solidFill>
                            <a:srgbClr val="94A3B8"/>
                          </a:solidFill>
                        </a:defRPr>
                      </a:pPr>
                      <a:r>
                        <a:t>Vibration only</a:t>
                      </a:r>
                    </a:p>
                  </a:txBody>
                  <a:tcPr>
                    <a:solidFill>
                      <a:srgbClr val="161E31"/>
                    </a:solidFill>
                  </a:tcPr>
                </a:tc>
                <a:tc>
                  <a:txBody>
                    <a:bodyPr/>
                    <a:lstStyle/>
                    <a:p>
                      <a:pPr algn="ctr">
                        <a:defRPr sz="1150">
                          <a:solidFill>
                            <a:srgbClr val="94A3B8"/>
                          </a:solidFill>
                        </a:defRPr>
                      </a:pPr>
                      <a:r>
                        <a:t>None</a:t>
                      </a:r>
                    </a:p>
                  </a:txBody>
                  <a:tcPr>
                    <a:solidFill>
                      <a:srgbClr val="161E31"/>
                    </a:solidFill>
                  </a:tcPr>
                </a:tc>
                <a:tc>
                  <a:txBody>
                    <a:bodyPr/>
                    <a:lstStyle/>
                    <a:p>
                      <a:pPr algn="ctr">
                        <a:defRPr sz="1150">
                          <a:solidFill>
                            <a:srgbClr val="94A3B8"/>
                          </a:solidFill>
                        </a:defRPr>
                      </a:pPr>
                      <a:r>
                        <a:t>Basic</a:t>
                      </a:r>
                    </a:p>
                  </a:txBody>
                  <a:tcPr>
                    <a:solidFill>
                      <a:srgbClr val="161E31"/>
                    </a:solidFill>
                  </a:tcPr>
                </a:tc>
              </a:tr>
              <a:tr h="613956">
                <a:tc>
                  <a:txBody>
                    <a:bodyPr/>
                    <a:lstStyle/>
                    <a:p>
                      <a:pPr algn="l">
                        <a:defRPr sz="1150">
                          <a:solidFill>
                            <a:srgbClr val="94A3B8"/>
                          </a:solidFill>
                        </a:defRPr>
                      </a:pPr>
                      <a:r>
                        <a:t>Audience Engagement</a:t>
                      </a:r>
                    </a:p>
                  </a:txBody>
                  <a:tcPr>
                    <a:solidFill>
                      <a:srgbClr val="161E31"/>
                    </a:solidFill>
                  </a:tcPr>
                </a:tc>
                <a:tc>
                  <a:txBody>
                    <a:bodyPr/>
                    <a:lstStyle/>
                    <a:p>
                      <a:pPr algn="ctr">
                        <a:defRPr sz="1150" b="1">
                          <a:solidFill>
                            <a:srgbClr val="34D399"/>
                          </a:solidFill>
                        </a:defRPr>
                      </a:pPr>
                      <a:r>
                        <a:t>Integrated in Suite</a:t>
                      </a:r>
                    </a:p>
                  </a:txBody>
                  <a:tcPr>
                    <a:solidFill>
                      <a:srgbClr val="182644"/>
                    </a:solidFill>
                  </a:tcPr>
                </a:tc>
                <a:tc>
                  <a:txBody>
                    <a:bodyPr/>
                    <a:lstStyle/>
                    <a:p>
                      <a:pPr algn="ctr">
                        <a:defRPr sz="1150">
                          <a:solidFill>
                            <a:srgbClr val="94A3B8"/>
                          </a:solidFill>
                        </a:defRPr>
                      </a:pPr>
                      <a:r>
                        <a:t>None</a:t>
                      </a:r>
                    </a:p>
                  </a:txBody>
                  <a:tcPr>
                    <a:solidFill>
                      <a:srgbClr val="161E31"/>
                    </a:solidFill>
                  </a:tcPr>
                </a:tc>
                <a:tc>
                  <a:txBody>
                    <a:bodyPr/>
                    <a:lstStyle/>
                    <a:p>
                      <a:pPr algn="ctr">
                        <a:defRPr sz="1150">
                          <a:solidFill>
                            <a:srgbClr val="94A3B8"/>
                          </a:solidFill>
                        </a:defRPr>
                      </a:pPr>
                      <a:r>
                        <a:t>Yes (Single Purpose)</a:t>
                      </a:r>
                    </a:p>
                  </a:txBody>
                  <a:tcPr>
                    <a:solidFill>
                      <a:srgbClr val="161E31"/>
                    </a:solidFill>
                  </a:tcPr>
                </a:tc>
                <a:tc>
                  <a:txBody>
                    <a:bodyPr/>
                    <a:lstStyle/>
                    <a:p>
                      <a:pPr algn="ctr">
                        <a:defRPr sz="1150">
                          <a:solidFill>
                            <a:srgbClr val="94A3B8"/>
                          </a:solidFill>
                        </a:defRPr>
                      </a:pPr>
                      <a:r>
                        <a:t>None</a:t>
                      </a:r>
                    </a:p>
                  </a:txBody>
                  <a:tcPr>
                    <a:solidFill>
                      <a:srgbClr val="161E31"/>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UNIT ECONOMICS &amp; TECH</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Engineered for 95%+ Gross Margins</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Hyper-efficient infrastructure with virtually zero marginal serving cost.</a:t>
            </a:r>
          </a:p>
        </p:txBody>
      </p:sp>
      <p:sp>
        <p:nvSpPr>
          <p:cNvPr id="6" name="Rounded Rectangle 5"/>
          <p:cNvSpPr/>
          <p:nvPr/>
        </p:nvSpPr>
        <p:spPr>
          <a:xfrm>
            <a:off x="7315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2148840" cy="3749039"/>
          </a:xfrm>
          <a:prstGeom prst="rect">
            <a:avLst/>
          </a:prstGeom>
          <a:noFill/>
        </p:spPr>
        <p:txBody>
          <a:bodyPr wrap="square">
            <a:spAutoFit/>
          </a:bodyPr>
          <a:lstStyle/>
          <a:p>
            <a:pPr>
              <a:defRPr sz="2800" b="1">
                <a:solidFill>
                  <a:srgbClr val="34D399"/>
                </a:solidFill>
              </a:defRPr>
            </a:pPr>
            <a:r>
              <a:t>98%+</a:t>
            </a:r>
          </a:p>
          <a:p>
            <a:pPr>
              <a:spcBef>
                <a:spcPts val="800"/>
              </a:spcBef>
              <a:defRPr sz="1500" b="1">
                <a:solidFill>
                  <a:srgbClr val="F8FAFC"/>
                </a:solidFill>
              </a:defRPr>
            </a:pPr>
            <a:r>
              <a:t>Gross Profit Margin</a:t>
            </a:r>
          </a:p>
          <a:p>
            <a:pPr>
              <a:spcBef>
                <a:spcPts val="1200"/>
              </a:spcBef>
              <a:defRPr sz="1200">
                <a:solidFill>
                  <a:srgbClr val="94A3B8"/>
                </a:solidFill>
              </a:defRPr>
            </a:pPr>
            <a:r>
              <a:t>WebSocket relay architecture has negligible CPU and memory footprint.</a:t>
            </a:r>
          </a:p>
        </p:txBody>
      </p:sp>
      <p:sp>
        <p:nvSpPr>
          <p:cNvPr id="8" name="Rounded Rectangle 7"/>
          <p:cNvSpPr/>
          <p:nvPr/>
        </p:nvSpPr>
        <p:spPr>
          <a:xfrm>
            <a:off x="34747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103120"/>
            <a:ext cx="2148840" cy="3749039"/>
          </a:xfrm>
          <a:prstGeom prst="rect">
            <a:avLst/>
          </a:prstGeom>
          <a:noFill/>
        </p:spPr>
        <p:txBody>
          <a:bodyPr wrap="square">
            <a:spAutoFit/>
          </a:bodyPr>
          <a:lstStyle/>
          <a:p>
            <a:pPr>
              <a:defRPr sz="2800" b="1">
                <a:solidFill>
                  <a:srgbClr val="38BDF8"/>
                </a:solidFill>
              </a:defRPr>
            </a:pPr>
            <a:r>
              <a:t>&lt; ₹0.10</a:t>
            </a:r>
          </a:p>
          <a:p>
            <a:pPr>
              <a:spcBef>
                <a:spcPts val="800"/>
              </a:spcBef>
              <a:defRPr sz="1500" b="1">
                <a:solidFill>
                  <a:srgbClr val="F8FAFC"/>
                </a:solidFill>
              </a:defRPr>
            </a:pPr>
            <a:r>
              <a:t>Server Cost Per User/Yr</a:t>
            </a:r>
          </a:p>
          <a:p>
            <a:pPr>
              <a:spcBef>
                <a:spcPts val="1200"/>
              </a:spcBef>
              <a:defRPr sz="1200">
                <a:solidFill>
                  <a:srgbClr val="94A3B8"/>
                </a:solidFill>
              </a:defRPr>
            </a:pPr>
            <a:r>
              <a:t>Thousands of concurrent rooms handled on lean container compute.</a:t>
            </a:r>
          </a:p>
        </p:txBody>
      </p:sp>
      <p:sp>
        <p:nvSpPr>
          <p:cNvPr id="10" name="Rounded Rectangle 9"/>
          <p:cNvSpPr/>
          <p:nvPr/>
        </p:nvSpPr>
        <p:spPr>
          <a:xfrm>
            <a:off x="62179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03120"/>
            <a:ext cx="2148840" cy="3749039"/>
          </a:xfrm>
          <a:prstGeom prst="rect">
            <a:avLst/>
          </a:prstGeom>
          <a:noFill/>
        </p:spPr>
        <p:txBody>
          <a:bodyPr wrap="square">
            <a:spAutoFit/>
          </a:bodyPr>
          <a:lstStyle/>
          <a:p>
            <a:pPr>
              <a:defRPr sz="2800" b="1">
                <a:solidFill>
                  <a:srgbClr val="818CF8"/>
                </a:solidFill>
              </a:defRPr>
            </a:pPr>
            <a:r>
              <a:t>&gt; 12x</a:t>
            </a:r>
          </a:p>
          <a:p>
            <a:pPr>
              <a:spcBef>
                <a:spcPts val="800"/>
              </a:spcBef>
              <a:defRPr sz="1500" b="1">
                <a:solidFill>
                  <a:srgbClr val="F8FAFC"/>
                </a:solidFill>
              </a:defRPr>
            </a:pPr>
            <a:r>
              <a:t>Projected LTV / CAC</a:t>
            </a:r>
          </a:p>
          <a:p>
            <a:pPr>
              <a:spcBef>
                <a:spcPts val="1200"/>
              </a:spcBef>
              <a:defRPr sz="1200">
                <a:solidFill>
                  <a:srgbClr val="94A3B8"/>
                </a:solidFill>
              </a:defRPr>
            </a:pPr>
            <a:r>
              <a:t>Viral audience-to-user conversion drives near-zero acquisition cost.</a:t>
            </a:r>
          </a:p>
        </p:txBody>
      </p:sp>
      <p:sp>
        <p:nvSpPr>
          <p:cNvPr id="12" name="Rounded Rectangle 11"/>
          <p:cNvSpPr/>
          <p:nvPr/>
        </p:nvSpPr>
        <p:spPr>
          <a:xfrm>
            <a:off x="8961120" y="1828800"/>
            <a:ext cx="2514600" cy="429768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2103120"/>
            <a:ext cx="2148840" cy="3749039"/>
          </a:xfrm>
          <a:prstGeom prst="rect">
            <a:avLst/>
          </a:prstGeom>
          <a:noFill/>
        </p:spPr>
        <p:txBody>
          <a:bodyPr wrap="square">
            <a:spAutoFit/>
          </a:bodyPr>
          <a:lstStyle/>
          <a:p>
            <a:pPr>
              <a:defRPr sz="2800" b="1">
                <a:solidFill>
                  <a:srgbClr val="FB923C"/>
                </a:solidFill>
              </a:defRPr>
            </a:pPr>
            <a:r>
              <a:t>&lt; 50ms</a:t>
            </a:r>
          </a:p>
          <a:p>
            <a:pPr>
              <a:spcBef>
                <a:spcPts val="800"/>
              </a:spcBef>
              <a:defRPr sz="1500" b="1">
                <a:solidFill>
                  <a:srgbClr val="F8FAFC"/>
                </a:solidFill>
              </a:defRPr>
            </a:pPr>
            <a:r>
              <a:t>Relay Latency</a:t>
            </a:r>
          </a:p>
          <a:p>
            <a:pPr>
              <a:spcBef>
                <a:spcPts val="1200"/>
              </a:spcBef>
              <a:defRPr sz="1200">
                <a:solidFill>
                  <a:srgbClr val="94A3B8"/>
                </a:solidFill>
              </a:defRPr>
            </a:pPr>
            <a:r>
              <a:t>Instantaneous slide transitions and responsive laser pointer tracking.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GO-TO-MARKET</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Built-In Viral Loops &amp; Organic Distribution</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Every presentation is an organic product demo.</a:t>
            </a:r>
          </a:p>
        </p:txBody>
      </p:sp>
      <p:sp>
        <p:nvSpPr>
          <p:cNvPr id="6" name="Rounded Rectangle 5"/>
          <p:cNvSpPr/>
          <p:nvPr/>
        </p:nvSpPr>
        <p:spPr>
          <a:xfrm>
            <a:off x="731520" y="182880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57400"/>
            <a:ext cx="4663440" cy="1463040"/>
          </a:xfrm>
          <a:prstGeom prst="rect">
            <a:avLst/>
          </a:prstGeom>
          <a:noFill/>
        </p:spPr>
        <p:txBody>
          <a:bodyPr wrap="square">
            <a:spAutoFit/>
          </a:bodyPr>
          <a:lstStyle/>
          <a:p>
            <a:pPr>
              <a:defRPr sz="1600" b="1">
                <a:solidFill>
                  <a:srgbClr val="38BDF8"/>
                </a:solidFill>
              </a:defRPr>
            </a:pPr>
            <a:r>
              <a:t>The Audience Viral Loop</a:t>
            </a:r>
          </a:p>
          <a:p>
            <a:pPr>
              <a:spcBef>
                <a:spcPts val="800"/>
              </a:spcBef>
              <a:defRPr sz="1250">
                <a:solidFill>
                  <a:srgbClr val="94A3B8"/>
                </a:solidFill>
              </a:defRPr>
            </a:pPr>
            <a:r>
              <a:t>Every presentation has 1 speaker and 20 to 100 audience members. When the speaker controls slides with their phone and points a laser, the audience immediately asks: 'What app is that?'</a:t>
            </a:r>
          </a:p>
        </p:txBody>
      </p:sp>
      <p:sp>
        <p:nvSpPr>
          <p:cNvPr id="8" name="Rounded Rectangle 7"/>
          <p:cNvSpPr/>
          <p:nvPr/>
        </p:nvSpPr>
        <p:spPr>
          <a:xfrm>
            <a:off x="6217920" y="182880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57400"/>
            <a:ext cx="4663440" cy="1463040"/>
          </a:xfrm>
          <a:prstGeom prst="rect">
            <a:avLst/>
          </a:prstGeom>
          <a:noFill/>
        </p:spPr>
        <p:txBody>
          <a:bodyPr wrap="square">
            <a:spAutoFit/>
          </a:bodyPr>
          <a:lstStyle/>
          <a:p>
            <a:pPr>
              <a:defRPr sz="1600" b="1">
                <a:solidFill>
                  <a:srgbClr val="34D399"/>
                </a:solidFill>
              </a:defRPr>
            </a:pPr>
            <a:r>
              <a:t>Campus Ambassador Blitz</a:t>
            </a:r>
          </a:p>
          <a:p>
            <a:pPr>
              <a:spcBef>
                <a:spcPts val="800"/>
              </a:spcBef>
              <a:defRPr sz="1250">
                <a:solidFill>
                  <a:srgbClr val="94A3B8"/>
                </a:solidFill>
              </a:defRPr>
            </a:pPr>
            <a:r>
              <a:t>Deploying student representatives across engineering colleges, business schools, and debate clubs where group presentations happen weekly.</a:t>
            </a:r>
          </a:p>
        </p:txBody>
      </p:sp>
      <p:sp>
        <p:nvSpPr>
          <p:cNvPr id="10" name="Rounded Rectangle 9"/>
          <p:cNvSpPr/>
          <p:nvPr/>
        </p:nvSpPr>
        <p:spPr>
          <a:xfrm>
            <a:off x="731520" y="402336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51960"/>
            <a:ext cx="4663440" cy="1463040"/>
          </a:xfrm>
          <a:prstGeom prst="rect">
            <a:avLst/>
          </a:prstGeom>
          <a:noFill/>
        </p:spPr>
        <p:txBody>
          <a:bodyPr wrap="square">
            <a:spAutoFit/>
          </a:bodyPr>
          <a:lstStyle/>
          <a:p>
            <a:pPr>
              <a:defRPr sz="1600" b="1">
                <a:solidFill>
                  <a:srgbClr val="818CF8"/>
                </a:solidFill>
              </a:defRPr>
            </a:pPr>
            <a:r>
              <a:t>Software Directories &amp; SEO</a:t>
            </a:r>
          </a:p>
          <a:p>
            <a:pPr>
              <a:spcBef>
                <a:spcPts val="800"/>
              </a:spcBef>
              <a:defRPr sz="1250">
                <a:solidFill>
                  <a:srgbClr val="94A3B8"/>
                </a:solidFill>
              </a:defRPr>
            </a:pPr>
            <a:r>
              <a:t>Capturing high-intent organic searches on Uptodown, AlternativeTo, Microsoft winget, and Product Hunt for 'phone presentation remote'.</a:t>
            </a:r>
          </a:p>
        </p:txBody>
      </p:sp>
      <p:sp>
        <p:nvSpPr>
          <p:cNvPr id="12" name="Rounded Rectangle 11"/>
          <p:cNvSpPr/>
          <p:nvPr/>
        </p:nvSpPr>
        <p:spPr>
          <a:xfrm>
            <a:off x="6217920" y="4023360"/>
            <a:ext cx="5212080" cy="1920240"/>
          </a:xfrm>
          <a:prstGeom prst="roundRect">
            <a:avLst/>
          </a:prstGeom>
          <a:solidFill>
            <a:srgbClr val="161E31"/>
          </a:solidFill>
          <a:ln w="1524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251960"/>
            <a:ext cx="4663440" cy="1463040"/>
          </a:xfrm>
          <a:prstGeom prst="rect">
            <a:avLst/>
          </a:prstGeom>
          <a:noFill/>
        </p:spPr>
        <p:txBody>
          <a:bodyPr wrap="square">
            <a:spAutoFit/>
          </a:bodyPr>
          <a:lstStyle/>
          <a:p>
            <a:pPr>
              <a:defRPr sz="1600" b="1">
                <a:solidFill>
                  <a:srgbClr val="FB923C"/>
                </a:solidFill>
              </a:defRPr>
            </a:pPr>
            <a:r>
              <a:t>Speaker &amp; Coach Partnerships</a:t>
            </a:r>
          </a:p>
          <a:p>
            <a:pPr>
              <a:spcBef>
                <a:spcPts val="800"/>
              </a:spcBef>
              <a:defRPr sz="1250">
                <a:solidFill>
                  <a:srgbClr val="94A3B8"/>
                </a:solidFill>
              </a:defRPr>
            </a:pPr>
            <a:r>
              <a:t>Collaborating with public speaking trainers, startup pitch coaches, and conference organizers to make NXTslide the recommended tool.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tIns="0" bIns="0" lIns="0" rIns="0">
            <a:spAutoFit/>
          </a:bodyPr>
          <a:lstStyle/>
          <a:p>
            <a:pPr>
              <a:defRPr sz="1100" b="1">
                <a:solidFill>
                  <a:srgbClr val="38BDF8"/>
                </a:solidFill>
              </a:defRPr>
            </a:pPr>
            <a:r>
              <a:t>INVESTMENT ASK</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600" b="1">
                <a:solidFill>
                  <a:srgbClr val="F8FAFC"/>
                </a:solidFill>
              </a:defRPr>
            </a:pPr>
            <a:r>
              <a:t>Seeking $35,000 - $50,000 Pre-Seed Capital</a:t>
            </a:r>
          </a:p>
        </p:txBody>
      </p:sp>
      <p:sp>
        <p:nvSpPr>
          <p:cNvPr id="5" name="TextBox 4"/>
          <p:cNvSpPr txBox="1"/>
          <p:nvPr/>
        </p:nvSpPr>
        <p:spPr>
          <a:xfrm>
            <a:off x="731520" y="1371600"/>
            <a:ext cx="10698480" cy="365760"/>
          </a:xfrm>
          <a:prstGeom prst="rect">
            <a:avLst/>
          </a:prstGeom>
          <a:noFill/>
        </p:spPr>
        <p:txBody>
          <a:bodyPr wrap="square" tIns="0" bIns="0" lIns="0" rIns="0">
            <a:spAutoFit/>
          </a:bodyPr>
          <a:lstStyle/>
          <a:p>
            <a:pPr>
              <a:defRPr sz="1300">
                <a:solidFill>
                  <a:srgbClr val="94A3B8"/>
                </a:solidFill>
              </a:defRPr>
            </a:pPr>
            <a:r>
              <a:t>Accelerating product velocity and capturing key education and corporate markets.</a:t>
            </a:r>
          </a:p>
        </p:txBody>
      </p:sp>
      <p:sp>
        <p:nvSpPr>
          <p:cNvPr id="6" name="Rounded Rectangle 5"/>
          <p:cNvSpPr/>
          <p:nvPr/>
        </p:nvSpPr>
        <p:spPr>
          <a:xfrm>
            <a:off x="731520" y="1828800"/>
            <a:ext cx="5120640" cy="4297680"/>
          </a:xfrm>
          <a:prstGeom prst="roundRect">
            <a:avLst/>
          </a:prstGeom>
          <a:solidFill>
            <a:srgbClr val="161E31"/>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572000" cy="3749039"/>
          </a:xfrm>
          <a:prstGeom prst="rect">
            <a:avLst/>
          </a:prstGeom>
          <a:noFill/>
        </p:spPr>
        <p:txBody>
          <a:bodyPr wrap="square">
            <a:spAutoFit/>
          </a:bodyPr>
          <a:lstStyle/>
          <a:p>
            <a:pPr>
              <a:defRPr sz="1200" b="1">
                <a:solidFill>
                  <a:srgbClr val="34D399"/>
                </a:solidFill>
              </a:defRPr>
            </a:pPr>
            <a:r>
              <a:t>CAPITAL ALLOCATION</a:t>
            </a:r>
          </a:p>
          <a:p>
            <a:pPr>
              <a:spcBef>
                <a:spcPts val="600"/>
              </a:spcBef>
              <a:defRPr sz="2000" b="1">
                <a:solidFill>
                  <a:srgbClr val="F8FAFC"/>
                </a:solidFill>
              </a:defRPr>
            </a:pPr>
            <a:r>
              <a:t>Target: $35K - $50K (₹30L - ₹45L)</a:t>
            </a:r>
          </a:p>
          <a:p>
            <a:pPr>
              <a:spcBef>
                <a:spcPts val="1200"/>
              </a:spcBef>
              <a:defRPr sz="1250">
                <a:solidFill>
                  <a:srgbClr val="94A3B8"/>
                </a:solidFill>
              </a:defRPr>
            </a:pPr>
            <a:r>
              <a:t>• 50% Product Development: iOS Companion App, Live Audience Q&amp;A, and AI Presenter Rehearsal coach</a:t>
            </a:r>
          </a:p>
          <a:p>
            <a:pPr>
              <a:spcBef>
                <a:spcPts val="1200"/>
              </a:spcBef>
              <a:defRPr sz="1250">
                <a:solidFill>
                  <a:srgbClr val="94A3B8"/>
                </a:solidFill>
              </a:defRPr>
            </a:pPr>
            <a:r>
              <a:t>• 30% Go-To-Market: Campus Ambassador Network rollout and creator partnerships</a:t>
            </a:r>
          </a:p>
          <a:p>
            <a:pPr>
              <a:spcBef>
                <a:spcPts val="1200"/>
              </a:spcBef>
              <a:defRPr sz="1250">
                <a:solidFill>
                  <a:srgbClr val="94A3B8"/>
                </a:solidFill>
              </a:defRPr>
            </a:pPr>
            <a:r>
              <a:t>• 20% Infrastructure &amp; Operations: High-availability multi-region relay nodes and security compliance</a:t>
            </a:r>
          </a:p>
        </p:txBody>
      </p:sp>
      <p:sp>
        <p:nvSpPr>
          <p:cNvPr id="8" name="Rounded Rectangle 7"/>
          <p:cNvSpPr/>
          <p:nvPr/>
        </p:nvSpPr>
        <p:spPr>
          <a:xfrm>
            <a:off x="6217920" y="1828800"/>
            <a:ext cx="5212080" cy="4297680"/>
          </a:xfrm>
          <a:prstGeom prst="roundRect">
            <a:avLst/>
          </a:prstGeom>
          <a:solidFill>
            <a:srgbClr val="161E31"/>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03120"/>
            <a:ext cx="4663440" cy="3749039"/>
          </a:xfrm>
          <a:prstGeom prst="rect">
            <a:avLst/>
          </a:prstGeom>
          <a:noFill/>
        </p:spPr>
        <p:txBody>
          <a:bodyPr wrap="square">
            <a:spAutoFit/>
          </a:bodyPr>
          <a:lstStyle/>
          <a:p>
            <a:pPr>
              <a:defRPr sz="1200" b="1">
                <a:solidFill>
                  <a:srgbClr val="38BDF8"/>
                </a:solidFill>
              </a:defRPr>
            </a:pPr>
            <a:r>
              <a:t>12-MONTH MILESTONES</a:t>
            </a:r>
          </a:p>
          <a:p>
            <a:pPr>
              <a:spcBef>
                <a:spcPts val="600"/>
              </a:spcBef>
              <a:defRPr sz="2000" b="1">
                <a:solidFill>
                  <a:srgbClr val="F8FAFC"/>
                </a:solidFill>
              </a:defRPr>
            </a:pPr>
            <a:r>
              <a:t>Key Execution Targets</a:t>
            </a:r>
          </a:p>
          <a:p>
            <a:pPr>
              <a:spcBef>
                <a:spcPts val="1200"/>
              </a:spcBef>
              <a:defRPr sz="1250">
                <a:solidFill>
                  <a:srgbClr val="F8FAFC"/>
                </a:solidFill>
              </a:defRPr>
            </a:pPr>
            <a:r>
              <a:t>★ 50,000+ Registered Active Presenters across web &amp; mobile</a:t>
            </a:r>
          </a:p>
          <a:p>
            <a:pPr>
              <a:spcBef>
                <a:spcPts val="1200"/>
              </a:spcBef>
              <a:defRPr sz="1250">
                <a:solidFill>
                  <a:srgbClr val="F8FAFC"/>
                </a:solidFill>
              </a:defRPr>
            </a:pPr>
            <a:r>
              <a:t>★ $8,000+ Monthly Recurring Revenue (MRR) from Creator SaaS tier</a:t>
            </a:r>
          </a:p>
          <a:p>
            <a:pPr>
              <a:spcBef>
                <a:spcPts val="1200"/>
              </a:spcBef>
              <a:defRPr sz="1250">
                <a:solidFill>
                  <a:srgbClr val="F8FAFC"/>
                </a:solidFill>
              </a:defRPr>
            </a:pPr>
            <a:r>
              <a:t>★ iOS App Store release and global Microsoft Store certification</a:t>
            </a:r>
          </a:p>
          <a:p>
            <a:pPr>
              <a:spcBef>
                <a:spcPts val="1200"/>
              </a:spcBef>
              <a:defRPr sz="1250">
                <a:solidFill>
                  <a:srgbClr val="F8FAFC"/>
                </a:solidFill>
              </a:defRPr>
            </a:pPr>
            <a:r>
              <a:t>★ Strategic B2B pilots with leading universities and startup accelerators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61E31"/>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645920"/>
            <a:ext cx="9601200" cy="3657600"/>
          </a:xfrm>
          <a:prstGeom prst="rect">
            <a:avLst/>
          </a:prstGeom>
          <a:noFill/>
        </p:spPr>
        <p:txBody>
          <a:bodyPr wrap="square">
            <a:spAutoFit/>
          </a:bodyPr>
          <a:lstStyle/>
          <a:p>
            <a:pPr>
              <a:defRPr sz="1200" b="1">
                <a:solidFill>
                  <a:srgbClr val="38BDF8"/>
                </a:solidFill>
              </a:defRPr>
            </a:pPr>
            <a:r>
              <a:t>THE FUTURE OF PRESENTATIONS</a:t>
            </a:r>
          </a:p>
          <a:p>
            <a:pPr>
              <a:spcBef>
                <a:spcPts val="1000"/>
              </a:spcBef>
              <a:defRPr sz="3600" b="1">
                <a:solidFill>
                  <a:srgbClr val="F8FAFC"/>
                </a:solidFill>
              </a:defRPr>
            </a:pPr>
            <a:r>
              <a:t>Every Great Idea Deserves a Great Presentation.</a:t>
            </a:r>
          </a:p>
          <a:p>
            <a:pPr>
              <a:spcBef>
                <a:spcPts val="1200"/>
              </a:spcBef>
              <a:defRPr sz="1600">
                <a:solidFill>
                  <a:srgbClr val="94A3B8"/>
                </a:solidFill>
              </a:defRPr>
            </a:pPr>
            <a:r>
              <a:t>Join us in redefining how the world shares knowledge, pitches ideas, and captivates audiences.</a:t>
            </a:r>
          </a:p>
          <a:p>
            <a:pPr>
              <a:spcBef>
                <a:spcPts val="2800"/>
              </a:spcBef>
              <a:defRPr sz="1500" b="1">
                <a:solidFill>
                  <a:srgbClr val="818CF8"/>
                </a:solidFill>
              </a:defRPr>
            </a:pPr>
            <a:r>
              <a:t>Dilpreet Singh  •  Founder &amp; Lead Engineer</a:t>
            </a:r>
            <a:br/>
            <a:r>
              <a:t>Website: https://nxtslide.online  •  Live Demo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